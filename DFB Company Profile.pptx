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5C52BD-3121-433C-AD53-0839500FD44A}" type="datetimeFigureOut"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E53E37-752D-47CE-8E3B-7C152F5EBEA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91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F0C00"/>
          </a:solidFill>
          <a:ln w="12700">
            <a:solidFill>
              <a:srgbClr val="0F0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9080" y="0"/>
            <a:ext cx="45720" cy="514350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474720"/>
            <a:ext cx="2560320" cy="2560320"/>
          </a:xfrm>
          <a:prstGeom prst="ellipse">
            <a:avLst/>
          </a:prstGeom>
          <a:solidFill>
            <a:srgbClr val="F5C800">
              <a:alpha val="8000"/>
            </a:srgbClr>
          </a:solidFill>
          <a:ln w="12700">
            <a:solidFill>
              <a:srgbClr val="F5C80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-457200"/>
            <a:ext cx="2011680" cy="2011680"/>
          </a:xfrm>
          <a:prstGeom prst="ellipse">
            <a:avLst/>
          </a:prstGeom>
          <a:solidFill>
            <a:srgbClr val="C49A00">
              <a:alpha val="8000"/>
            </a:srgbClr>
          </a:solidFill>
          <a:ln w="12700">
            <a:solidFill>
              <a:srgbClr val="C49A00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4747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5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DFB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200" dirty="0">
                <a:solidFill>
                  <a:srgbClr val="FFFBE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SERVICES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11480" y="1572768"/>
            <a:ext cx="914400" cy="22860"/>
          </a:xfrm>
          <a:prstGeom prst="rect">
            <a:avLst/>
          </a:prstGeom>
          <a:solidFill>
            <a:srgbClr val="C49A00"/>
          </a:solidFill>
          <a:ln w="12700">
            <a:solidFill>
              <a:srgbClr val="C49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190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500" dirty="0">
                <a:solidFill>
                  <a:srgbClr val="C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dirty="0">
                <a:solidFill>
                  <a:srgbClr val="FFF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</a:t>
            </a:r>
            <a:r>
              <a:rPr lang="en-US" sz="2600" b="1" dirty="0">
                <a:solidFill>
                  <a:srgbClr val="F5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Purpose.</a:t>
            </a:r>
            <a:endParaRPr lang="en-US" sz="2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600" dirty="0">
                <a:solidFill>
                  <a:srgbClr val="FFF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</a:t>
            </a:r>
            <a:endParaRPr lang="en-US" sz="2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5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11480" y="4709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300" dirty="0">
                <a:solidFill>
                  <a:srgbClr val="FFFBE8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 ·  Build  ·  Serve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29200" y="1371600"/>
            <a:ext cx="4572000" cy="3657600"/>
          </a:xfrm>
          <a:prstGeom prst="ellipse">
            <a:avLst/>
          </a:prstGeom>
          <a:solidFill>
            <a:srgbClr val="F5C800">
              <a:alpha val="4000"/>
            </a:srgbClr>
          </a:solidFill>
          <a:ln w="12700">
            <a:solidFill>
              <a:srgbClr val="F5C800">
                <a:alpha val="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59436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i="1" dirty="0">
                <a:solidFill>
                  <a:srgbClr val="FFFBE8">
                    <a:alpha val="8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founder-led design and build firm dedicated to creating purposeful spaces — from family homes to schools and institutions — where every structure serves the fullness of human life.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43400" y="2148840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F5C800">
              <a:alpha val="12000"/>
            </a:srgbClr>
          </a:solidFill>
          <a:ln w="9525">
            <a:solidFill>
              <a:srgbClr val="F5C800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2148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FFF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675120" y="2148840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F5C800">
              <a:alpha val="12000"/>
            </a:srgbClr>
          </a:solidFill>
          <a:ln w="9525">
            <a:solidFill>
              <a:srgbClr val="F5C800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148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FFF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343400" y="2624328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F5C800">
              <a:alpha val="12000"/>
            </a:srgbClr>
          </a:solidFill>
          <a:ln w="9525">
            <a:solidFill>
              <a:srgbClr val="F5C800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262432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FFF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75120" y="2624328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F5C800">
              <a:alpha val="12000"/>
            </a:srgbClr>
          </a:solidFill>
          <a:ln w="9525">
            <a:solidFill>
              <a:srgbClr val="F5C800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62432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FFF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14800" y="4315968"/>
            <a:ext cx="5029200" cy="22860"/>
          </a:xfrm>
          <a:prstGeom prst="rect">
            <a:avLst/>
          </a:prstGeom>
          <a:solidFill>
            <a:srgbClr val="C49A00">
              <a:alpha val="35000"/>
            </a:srgbClr>
          </a:solidFill>
          <a:ln w="12700">
            <a:solidFill>
              <a:srgbClr val="C49A00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44074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FFFBE8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· Innovation · Community · Sustainability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dirty="0">
                <a:solidFill>
                  <a:srgbClr val="FFF3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261872" y="40233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5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 &amp; Vision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8321040" cy="10973"/>
          </a:xfrm>
          <a:prstGeom prst="rect">
            <a:avLst/>
          </a:prstGeom>
          <a:solidFill>
            <a:srgbClr val="C9A800">
              <a:alpha val="40000"/>
            </a:srgbClr>
          </a:solidFill>
          <a:ln w="12700">
            <a:solidFill>
              <a:srgbClr val="C9A80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39319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A800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80160"/>
            <a:ext cx="3931920" cy="54864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44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4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267712"/>
            <a:ext cx="35661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6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design and build purposeful spaces that serve the real needs of people — delivering every project with integrity, creativity, and genuine care for community and the environment we all share.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280160"/>
            <a:ext cx="39319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A800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280160"/>
            <a:ext cx="3931920" cy="54864"/>
          </a:xfrm>
          <a:prstGeom prst="rect">
            <a:avLst/>
          </a:prstGeom>
          <a:solidFill>
            <a:srgbClr val="C49A00"/>
          </a:solidFill>
          <a:ln w="12700">
            <a:solidFill>
              <a:srgbClr val="C49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444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4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83480" y="17830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83480" y="2267712"/>
            <a:ext cx="35661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6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 the most trusted design-build partner for families and institutions in our communities — known for building spaces that uplift lives, endure through generations, and leave the environment better than we found it.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dirty="0">
                <a:solidFill>
                  <a:srgbClr val="FFF3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261872" y="40233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A5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Tagline &amp; Core Values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8321040" cy="10973"/>
          </a:xfrm>
          <a:prstGeom prst="rect">
            <a:avLst/>
          </a:prstGeom>
          <a:solidFill>
            <a:srgbClr val="C9A800">
              <a:alpha val="40000"/>
            </a:srgbClr>
          </a:solidFill>
          <a:ln w="12700">
            <a:solidFill>
              <a:srgbClr val="C9A80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61872"/>
            <a:ext cx="8321040" cy="1078992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822960"/>
            <a:ext cx="1828800" cy="1828800"/>
          </a:xfrm>
          <a:prstGeom prst="ellipse">
            <a:avLst/>
          </a:prstGeom>
          <a:solidFill>
            <a:srgbClr val="C49A00">
              <a:alpha val="12000"/>
            </a:srgbClr>
          </a:solidFill>
          <a:ln w="12700">
            <a:solidFill>
              <a:srgbClr val="C49A00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98448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750" i="1" dirty="0">
                <a:solidFill>
                  <a:srgbClr val="1A16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don't just build structures —</a:t>
            </a:r>
            <a:endParaRPr lang="en-US" sz="17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750" i="1" dirty="0">
                <a:solidFill>
                  <a:srgbClr val="1A16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build spaces where life begins."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85800" y="23591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300" dirty="0">
                <a:solidFill>
                  <a:srgbClr val="5C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DFB CONSTRUCTION SERVICES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2697480"/>
            <a:ext cx="1993392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A800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4873752"/>
            <a:ext cx="1993392" cy="64008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2816352"/>
            <a:ext cx="475488" cy="475488"/>
          </a:xfrm>
          <a:prstGeom prst="ellipse">
            <a:avLst/>
          </a:prstGeom>
          <a:solidFill>
            <a:srgbClr val="FFF3B0"/>
          </a:solidFill>
          <a:ln w="12700">
            <a:solidFill>
              <a:srgbClr val="FFF3B0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871216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21208" y="340156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A5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1208" y="3767328"/>
            <a:ext cx="17739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C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what we say, say what we mean, and build what we promise — every time.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542032" y="2697480"/>
            <a:ext cx="1993392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A800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42032" y="4873752"/>
            <a:ext cx="1993392" cy="64008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670048" y="2816352"/>
            <a:ext cx="475488" cy="475488"/>
          </a:xfrm>
          <a:prstGeom prst="ellipse">
            <a:avLst/>
          </a:prstGeom>
          <a:solidFill>
            <a:srgbClr val="FFF3B0"/>
          </a:solidFill>
          <a:ln w="12700">
            <a:solidFill>
              <a:srgbClr val="FFF3B0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912" y="2871216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651760" y="340156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A5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651760" y="3767328"/>
            <a:ext cx="17739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C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embrace smart, creative solutions that improve quality without inflating cost.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672584" y="2697480"/>
            <a:ext cx="1993392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A800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672584" y="4873752"/>
            <a:ext cx="1993392" cy="64008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800600" y="2816352"/>
            <a:ext cx="475488" cy="475488"/>
          </a:xfrm>
          <a:prstGeom prst="ellipse">
            <a:avLst/>
          </a:prstGeom>
          <a:solidFill>
            <a:srgbClr val="FFF3B0"/>
          </a:solidFill>
          <a:ln w="12700">
            <a:solidFill>
              <a:srgbClr val="FFF3B0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464" y="2871216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82312" y="340156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A5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People-First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782312" y="3767328"/>
            <a:ext cx="17739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C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centers on the families and communities who will live in what we build.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803136" y="2697480"/>
            <a:ext cx="1993392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A800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803136" y="4873752"/>
            <a:ext cx="1993392" cy="64008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931152" y="2816352"/>
            <a:ext cx="475488" cy="475488"/>
          </a:xfrm>
          <a:prstGeom prst="ellipse">
            <a:avLst/>
          </a:prstGeom>
          <a:solidFill>
            <a:srgbClr val="FFF3B0"/>
          </a:solidFill>
          <a:ln w="12700">
            <a:solidFill>
              <a:srgbClr val="FFF3B0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6016" y="2871216"/>
            <a:ext cx="36576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912864" y="340156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A5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6912864" y="3767328"/>
            <a:ext cx="17739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C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responsibly — choosing materials that respect our environment and future generations.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dirty="0">
                <a:solidFill>
                  <a:srgbClr val="FFF3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261872" y="40233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A5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Philosophy &amp; What Sets Us Apart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8321040" cy="10973"/>
          </a:xfrm>
          <a:prstGeom prst="rect">
            <a:avLst/>
          </a:prstGeom>
          <a:solidFill>
            <a:srgbClr val="C9A800">
              <a:alpha val="40000"/>
            </a:srgbClr>
          </a:solidFill>
          <a:ln w="12700">
            <a:solidFill>
              <a:srgbClr val="C9A80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61872"/>
            <a:ext cx="64008" cy="182880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61872"/>
            <a:ext cx="3703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i="1" dirty="0">
                <a:solidFill>
                  <a:srgbClr val="7A5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structure is more than walls and a roof. It is a place where a child learns, a family gathers, a dream takes form. We build with that weight in mind — and with the care it deserves."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3218688"/>
            <a:ext cx="3886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5C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DFB, we believe every structure — regardless of size, type, or budget — carries a human story. Good design is not a luxury, but a fundamental right for every person who will live, learn, or work within a space we build.</a:t>
            </a:r>
            <a:endParaRPr lang="en-US" sz="1000" dirty="0"/>
          </a:p>
          <a:p>
            <a:pPr marL="0" indent="0" algn="l">
              <a:lnSpc>
                <a:spcPct val="145000"/>
              </a:lnSpc>
              <a:buNone/>
            </a:pPr>
            <a:endParaRPr lang="en-US" sz="10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000" dirty="0">
                <a:solidFill>
                  <a:srgbClr val="5C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approach each project as a personal commitment: listening deeply, designing with empathy, and building with craft and conscience.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38862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A800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92624" y="1380744"/>
            <a:ext cx="530352" cy="530352"/>
          </a:xfrm>
          <a:prstGeom prst="ellipse">
            <a:avLst/>
          </a:prstGeom>
          <a:solidFill>
            <a:srgbClr val="FFF3B0"/>
          </a:solidFill>
          <a:ln w="12700">
            <a:solidFill>
              <a:srgbClr val="FFF3B0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1444752"/>
            <a:ext cx="402336" cy="402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650992" y="1344168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A5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Personal, Hands-On Service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50992" y="1709928"/>
            <a:ext cx="2944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5C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work directly with our founders from first sketch to final handover — no hand-offs, just consistent, accountable partnership.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846320" y="2532888"/>
            <a:ext cx="38862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A800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992624" y="2679192"/>
            <a:ext cx="530352" cy="530352"/>
          </a:xfrm>
          <a:prstGeom prst="ellipse">
            <a:avLst/>
          </a:prstGeom>
          <a:solidFill>
            <a:srgbClr val="FFF3B0"/>
          </a:solidFill>
          <a:ln w="12700">
            <a:solidFill>
              <a:srgbClr val="FFF3B0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2743200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50992" y="2642616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A5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Affordable Without Cutting Corners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650992" y="3008376"/>
            <a:ext cx="2944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5C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design and honest procurement deliver quality you can see and safety you can trust, at a cost that respects your budget.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846320" y="3831336"/>
            <a:ext cx="38862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A800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992624" y="3977640"/>
            <a:ext cx="530352" cy="530352"/>
          </a:xfrm>
          <a:prstGeom prst="ellipse">
            <a:avLst/>
          </a:prstGeom>
          <a:solidFill>
            <a:srgbClr val="FFF3B0"/>
          </a:solidFill>
          <a:ln w="12700">
            <a:solidFill>
              <a:srgbClr val="FFF3B0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4041648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650992" y="3941064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A5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Under One Roof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650992" y="4306824"/>
            <a:ext cx="2944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5C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construction in one seamless engagement. Fewer gaps, faster timelines, and one team fully accountable for the outcome.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6B5000"/>
          </a:solidFill>
          <a:ln w="12700">
            <a:solidFill>
              <a:srgbClr val="6B5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926080" cy="2926080"/>
          </a:xfrm>
          <a:prstGeom prst="ellipse">
            <a:avLst/>
          </a:prstGeom>
          <a:solidFill>
            <a:srgbClr val="F5C800">
              <a:alpha val="10000"/>
            </a:srgbClr>
          </a:solidFill>
          <a:ln w="12700">
            <a:solidFill>
              <a:srgbClr val="F5C800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-548640"/>
            <a:ext cx="2011680" cy="2011680"/>
          </a:xfrm>
          <a:prstGeom prst="ellipse">
            <a:avLst/>
          </a:prstGeom>
          <a:solidFill>
            <a:srgbClr val="C49A00">
              <a:alpha val="10000"/>
            </a:srgbClr>
          </a:solidFill>
          <a:ln w="12700">
            <a:solidFill>
              <a:srgbClr val="C49A00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26280" y="0"/>
            <a:ext cx="45720" cy="514350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66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40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TOGETHER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space.
Your story.
</a:t>
            </a:r>
            <a:r>
              <a:rPr lang="en-US" sz="3200" b="1" i="1" dirty="0">
                <a:solidFill>
                  <a:srgbClr val="F5C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craft.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dirty="0">
                <a:solidFill>
                  <a:srgbClr val="FFFBE8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it's the home your family has always dreamed of, or a school where the next generation will grow — we are ready to build it with you.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2880" y="347472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F5C800">
                    <a:alpha val="1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DFB</a:t>
            </a:r>
            <a:endParaRPr lang="en-US" sz="8800" dirty="0"/>
          </a:p>
        </p:txBody>
      </p:sp>
      <p:sp>
        <p:nvSpPr>
          <p:cNvPr id="10" name="Text 8"/>
          <p:cNvSpPr/>
          <p:nvPr/>
        </p:nvSpPr>
        <p:spPr>
          <a:xfrm>
            <a:off x="4892040" y="502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400" dirty="0">
                <a:solidFill>
                  <a:srgbClr val="C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92040" y="822960"/>
            <a:ext cx="3931920" cy="10973"/>
          </a:xfrm>
          <a:prstGeom prst="rect">
            <a:avLst/>
          </a:prstGeom>
          <a:solidFill>
            <a:srgbClr val="F5C800">
              <a:alpha val="30000"/>
            </a:srgbClr>
          </a:solidFill>
          <a:ln w="12700">
            <a:solidFill>
              <a:srgbClr val="F5C80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005840"/>
            <a:ext cx="457200" cy="457200"/>
          </a:xfrm>
          <a:prstGeom prst="ellipse">
            <a:avLst/>
          </a:prstGeom>
          <a:solidFill>
            <a:srgbClr val="F5C800">
              <a:alpha val="12000"/>
            </a:srgbClr>
          </a:solidFill>
          <a:ln w="12700">
            <a:solidFill>
              <a:srgbClr val="F5C800">
                <a:alpha val="25000"/>
              </a:srgbClr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1060704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0" y="10241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Address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0" y="12435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BE8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Cainta, Rizal, Philippines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92040" y="1572768"/>
            <a:ext cx="3931920" cy="7315"/>
          </a:xfrm>
          <a:prstGeom prst="rect">
            <a:avLst/>
          </a:prstGeom>
          <a:solidFill>
            <a:srgbClr val="F5C800">
              <a:alpha val="12000"/>
            </a:srgbClr>
          </a:solidFill>
          <a:ln w="12700">
            <a:solidFill>
              <a:srgbClr val="F5C800">
                <a:alpha val="12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92040" y="1993392"/>
            <a:ext cx="457200" cy="457200"/>
          </a:xfrm>
          <a:prstGeom prst="ellipse">
            <a:avLst/>
          </a:prstGeom>
          <a:solidFill>
            <a:srgbClr val="F5C800">
              <a:alpha val="12000"/>
            </a:srgbClr>
          </a:solidFill>
          <a:ln w="12700">
            <a:solidFill>
              <a:srgbClr val="F5C800">
                <a:alpha val="25000"/>
              </a:srgbClr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2048256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0" y="20116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Mobile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486400" y="22311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BE8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+63 920 972 9969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892040" y="2560320"/>
            <a:ext cx="3931920" cy="7315"/>
          </a:xfrm>
          <a:prstGeom prst="rect">
            <a:avLst/>
          </a:prstGeom>
          <a:solidFill>
            <a:srgbClr val="F5C800">
              <a:alpha val="12000"/>
            </a:srgbClr>
          </a:solidFill>
          <a:ln w="12700">
            <a:solidFill>
              <a:srgbClr val="F5C800">
                <a:alpha val="12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892040" y="2980944"/>
            <a:ext cx="457200" cy="457200"/>
          </a:xfrm>
          <a:prstGeom prst="ellipse">
            <a:avLst/>
          </a:prstGeom>
          <a:solidFill>
            <a:srgbClr val="F5C800">
              <a:alpha val="12000"/>
            </a:srgbClr>
          </a:solidFill>
          <a:ln w="12700">
            <a:solidFill>
              <a:srgbClr val="F5C800">
                <a:alpha val="25000"/>
              </a:srgbClr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3035808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486400" y="29992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486400" y="32186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BE8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dfb.acds@gmail.com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892040" y="3547872"/>
            <a:ext cx="3931920" cy="7315"/>
          </a:xfrm>
          <a:prstGeom prst="rect">
            <a:avLst/>
          </a:prstGeom>
          <a:solidFill>
            <a:srgbClr val="F5C800">
              <a:alpha val="12000"/>
            </a:srgbClr>
          </a:solidFill>
          <a:ln w="12700">
            <a:solidFill>
              <a:srgbClr val="F5C800">
                <a:alpha val="1200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892040" y="3968496"/>
            <a:ext cx="457200" cy="457200"/>
          </a:xfrm>
          <a:prstGeom prst="ellipse">
            <a:avLst/>
          </a:prstGeom>
          <a:solidFill>
            <a:srgbClr val="F5C800">
              <a:alpha val="12000"/>
            </a:srgbClr>
          </a:solidFill>
          <a:ln w="12700">
            <a:solidFill>
              <a:srgbClr val="F5C800">
                <a:alpha val="25000"/>
              </a:srgbClr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4023360"/>
            <a:ext cx="347472" cy="34747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86400" y="39867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5486400" y="420624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BE8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Soon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DFB Construction Services — Company Profile</dc:title>
  <dc:subject>PptxGenJS Presentation</dc:subject>
  <dc:creator>DFB Construction Services</dc:creator>
  <cp:lastModifiedBy>DFB Construction Services</cp:lastModifiedBy>
  <cp:revision>3</cp:revision>
  <dcterms:created xsi:type="dcterms:W3CDTF">2026-03-10T05:48:25Z</dcterms:created>
  <dcterms:modified xsi:type="dcterms:W3CDTF">2026-03-18T02:30:38Z</dcterms:modified>
</cp:coreProperties>
</file>